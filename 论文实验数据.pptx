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1663" r:id="rId3"/>
    <p:sldId id="1668" r:id="rId5"/>
    <p:sldId id="1662" r:id="rId6"/>
    <p:sldId id="1669" r:id="rId7"/>
    <p:sldId id="1670" r:id="rId8"/>
    <p:sldId id="1671" r:id="rId9"/>
    <p:sldId id="1672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7C46C34-DD68-4D24-AFC7-CD3911C3D4B9}">
          <p14:sldIdLst>
            <p14:sldId id="1663"/>
            <p14:sldId id="1668"/>
            <p14:sldId id="1662"/>
            <p14:sldId id="1669"/>
            <p14:sldId id="1670"/>
            <p14:sldId id="1671"/>
            <p14:sldId id="167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 yinghui" initials="xy" lastIdx="6" clrIdx="0"/>
  <p:cmAuthor id="2" name="13006" initials="1" lastIdx="3" clrIdx="1"/>
  <p:cmAuthor id="3" name="84198" initials="8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6E9"/>
    <a:srgbClr val="37437A"/>
    <a:srgbClr val="44546A"/>
    <a:srgbClr val="37447A"/>
    <a:srgbClr val="EBEDEF"/>
    <a:srgbClr val="38447B"/>
    <a:srgbClr val="006C30"/>
    <a:srgbClr val="C4251F"/>
    <a:srgbClr val="FFFFFD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83492" autoAdjust="0"/>
  </p:normalViewPr>
  <p:slideViewPr>
    <p:cSldViewPr snapToGrid="0">
      <p:cViewPr varScale="1">
        <p:scale>
          <a:sx n="55" d="100"/>
          <a:sy n="55" d="100"/>
        </p:scale>
        <p:origin x="1132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7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攻击者奖励(×10)</c:v>
                </c:pt>
              </c:strCache>
            </c:strRef>
          </c:tx>
          <c:spPr>
            <a:solidFill>
              <a:schemeClr val="accent1">
                <a:alpha val="1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1" i="0" u="none" strike="noStrike" kern="1200" baseline="0">
                    <a:solidFill>
                      <a:srgbClr val="C00000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+mn-ea"/>
                    <a:sym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无防御者</c:v>
                </c:pt>
                <c:pt idx="1">
                  <c:v>平台静态防御者</c:v>
                </c:pt>
                <c:pt idx="2">
                  <c:v>PPO防御者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20.7</c:v>
                </c:pt>
                <c:pt idx="1">
                  <c:v>16.3</c:v>
                </c:pt>
                <c:pt idx="2">
                  <c:v>5.7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5906480"/>
        <c:axId val="209590720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攻击者攻陷节点数</c:v>
                </c:pt>
              </c:strCache>
            </c:strRef>
          </c:tx>
          <c:spPr>
            <a:ln w="28575" cap="rnd">
              <a:solidFill>
                <a:srgbClr val="3743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28575">
                <a:solidFill>
                  <a:srgbClr val="3743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+mn-ea"/>
                    <a:sym typeface="+mn-lt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无防御者</c:v>
                </c:pt>
                <c:pt idx="1">
                  <c:v>平台静态防御者</c:v>
                </c:pt>
                <c:pt idx="2">
                  <c:v>PPO防御者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攻击者发现节点数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2857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+mn-ea"/>
                    <a:sym typeface="+mn-lt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无防御者</c:v>
                </c:pt>
                <c:pt idx="1">
                  <c:v>平台静态防御者</c:v>
                </c:pt>
                <c:pt idx="2">
                  <c:v>PPO防御者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5906480"/>
        <c:axId val="2095907200"/>
      </c:lineChart>
      <c:catAx>
        <c:axId val="20959064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2095907200"/>
        <c:crosses val="autoZero"/>
        <c:auto val="1"/>
        <c:lblAlgn val="ctr"/>
        <c:lblOffset val="100"/>
        <c:noMultiLvlLbl val="0"/>
      </c:catAx>
      <c:valAx>
        <c:axId val="209590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defRPr>
            </a:pPr>
          </a:p>
        </c:txPr>
        <c:crossAx val="2095906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18971878512372"/>
          <c:y val="0.846082404075452"/>
          <c:w val="0.981028121487628"/>
          <c:h val="0.134453755754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5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等线" panose="02010600030101010101" pitchFamily="2" charset="-122"/>
              <a:ea typeface="微软雅黑" panose="020B0503020204020204" pitchFamily="34" charset="-122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等线" panose="02010600030101010101" pitchFamily="2" charset="-122"/>
          <a:ea typeface="等线" panose="02010600030101010101" pitchFamily="2" charset="-122"/>
          <a:cs typeface="+mn-ea"/>
          <a:sym typeface="+mn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37437A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1">
                  <a:alpha val="1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等线" panose="02010600030101010101" pitchFamily="2" charset="-122"/>
          <a:ea typeface="等线" panose="02010600030101010101" pitchFamily="2" charset="-122"/>
          <a:cs typeface="+mn-ea"/>
          <a:sym typeface="+mn-lt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5400000" scaled="1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3">
                  <a:alpha val="1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等线" panose="02010600030101010101" pitchFamily="2" charset="-122"/>
          <a:ea typeface="等线" panose="02010600030101010101" pitchFamily="2" charset="-122"/>
          <a:cs typeface="+mn-ea"/>
          <a:sym typeface="+mn-lt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961492B-B595-418C-953D-75372AEE6CC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95969CB-D09C-44C2-853F-2C8D13FD60F6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A1D8D-70CC-45D1-B09D-750C110EB5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A1D8D-70CC-45D1-B09D-750C110EB5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A1D8D-70CC-45D1-B09D-750C110EB5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A1D8D-70CC-45D1-B09D-750C110EB5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A1D8D-70CC-45D1-B09D-750C110EB5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A1D8D-70CC-45D1-B09D-750C110EB5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三组实验对比分析了同一攻击者面对不同防御者的表现，凸显了</a:t>
            </a:r>
            <a:r>
              <a:rPr kumimoji="1" lang="en-US" altLang="zh-CN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PPO</a:t>
            </a:r>
            <a:r>
              <a:rPr kumimoji="1" lang="zh-CN" altLang="en-US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防御者的有效性。</a:t>
            </a:r>
            <a:endParaRPr kumimoji="1" lang="en-US" altLang="zh-CN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A1D8D-70CC-45D1-B09D-750C110EB5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5A6EA-56F4-48EF-B240-523A81E4B57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0C0D4-EE09-4F5B-959F-F68F31D9C74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AEA-313C-46EE-8F12-6AFB573F85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5C31-0BB3-4DB0-9D6D-0FFBC545B76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FA173-CED5-4B91-BC90-5AC59C6DC76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915AD-458A-4E2A-8AB3-7CC4CBF8914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56B0-ABCA-4051-9870-E712DF4A0BC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3D30-4A66-4E13-AE2E-FEB85C64977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E612-5EBC-41E9-99AF-C2477855E18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47A4-8136-4179-8430-0CBA3AC3DA7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72FB-63B2-4230-AC34-B569A27B017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119D-3D1C-4CF3-AF7C-46F8718804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4" y="3456451"/>
            <a:ext cx="10850563" cy="869854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4" y="4406734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4" y="4722368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  <p:grpSp>
        <p:nvGrpSpPr>
          <p:cNvPr id="6" name="Group 5"/>
          <p:cNvGrpSpPr/>
          <p:nvPr userDrawn="1"/>
        </p:nvGrpSpPr>
        <p:grpSpPr>
          <a:xfrm rot="5400000">
            <a:off x="10442716" y="202243"/>
            <a:ext cx="69568" cy="3429000"/>
            <a:chOff x="0" y="0"/>
            <a:chExt cx="381000" cy="3429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6200000">
            <a:off x="1679716" y="202243"/>
            <a:ext cx="69568" cy="3429000"/>
            <a:chOff x="0" y="0"/>
            <a:chExt cx="381000" cy="342900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6C30"/>
            </a:solidFill>
            <a:ln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65" y="1123950"/>
            <a:ext cx="1553273" cy="15532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91" y="1140104"/>
            <a:ext cx="2157323" cy="15532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6" y="1077943"/>
            <a:ext cx="1677597" cy="1677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"/>
            <a:ext cx="12192000" cy="6858000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73100" y="3870251"/>
            <a:ext cx="10845800" cy="468637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rgbClr val="3844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3099" y="2920209"/>
            <a:ext cx="10845800" cy="894050"/>
          </a:xfrm>
        </p:spPr>
        <p:txBody>
          <a:bodyPr anchor="ctr" anchorCtr="1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4394880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4766355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1000" cy="3429000"/>
          </a:xfrm>
          <a:prstGeom prst="rect">
            <a:avLst/>
          </a:prstGeom>
          <a:solidFill>
            <a:srgbClr val="C42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>
              <a:latin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6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>
              <a:latin typeface="微软雅黑" panose="020B0503020204020204" pitchFamily="34" charset="-122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8763001" y="6477000"/>
            <a:ext cx="3429000" cy="381000"/>
            <a:chOff x="8763001" y="6477000"/>
            <a:chExt cx="3429000" cy="381000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10287001" y="4953000"/>
              <a:ext cx="381000" cy="34290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 rot="5400000">
              <a:off x="11811001" y="6477000"/>
              <a:ext cx="381000" cy="3810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</p:grpSp>
      <p:pic>
        <p:nvPicPr>
          <p:cNvPr id="1028" name="Picture 4" descr="http://zsjy.gzhu.edu.cn/images/pic_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34" b="-7143"/>
          <a:stretch>
            <a:fillRect/>
          </a:stretch>
        </p:blipFill>
        <p:spPr bwMode="auto">
          <a:xfrm>
            <a:off x="391886" y="-1"/>
            <a:ext cx="3463289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-39914"/>
            <a:ext cx="1113116" cy="111311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063" y="-19958"/>
            <a:ext cx="1484186" cy="10686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0" y="6248400"/>
              <a:ext cx="152400" cy="6096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666-B29A-4A44-89B8-7D201E8AE40C}" type="datetime1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B8D6E-62EA-403A-9AC4-8D36D50294CC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>
                <a:latin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>
            <p:ph idx="1" hasCustomPrompt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sz="1800"/>
          </a:p>
        </p:txBody>
      </p:sp>
      <p:sp>
        <p:nvSpPr>
          <p:cNvPr id="8" name="Rectangle 7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sz="1800" dirty="0"/>
          </a:p>
        </p:txBody>
      </p:sp>
      <p:sp>
        <p:nvSpPr>
          <p:cNvPr id="10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3944682" y="0"/>
            <a:ext cx="7575809" cy="1028700"/>
          </a:xfrm>
        </p:spPr>
        <p:txBody>
          <a:bodyPr lIns="0" anchor="b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5044CD9-C2FE-4003-9596-711D5324C91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2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A13119D-3D1C-4CF3-AF7C-46F8718804B0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.xml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4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5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6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71471" y="6341563"/>
            <a:ext cx="33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A0DB2DC-4C9A-4742-B13C-FB6460FD3503}" type="slidenum"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610600" y="6369880"/>
            <a:ext cx="2743200" cy="365125"/>
          </a:xfrm>
        </p:spPr>
        <p:txBody>
          <a:bodyPr/>
          <a:lstStyle/>
          <a:p>
            <a:fld id="{89AB8D6E-62EA-403A-9AC4-8D36D50294CC}" type="slidenum">
              <a:rPr lang="zh-CN" altLang="en-US" b="1" smtClean="0"/>
            </a:fld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13715" y="6488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79386" y="1184920"/>
            <a:ext cx="9443183" cy="4896391"/>
            <a:chOff x="1730036" y="1514225"/>
            <a:chExt cx="9443183" cy="4896391"/>
          </a:xfrm>
        </p:grpSpPr>
        <p:sp>
          <p:nvSpPr>
            <p:cNvPr id="16" name="矩形 15"/>
            <p:cNvSpPr/>
            <p:nvPr/>
          </p:nvSpPr>
          <p:spPr>
            <a:xfrm>
              <a:off x="1730036" y="1514226"/>
              <a:ext cx="278233" cy="4896390"/>
            </a:xfrm>
            <a:prstGeom prst="rect">
              <a:avLst/>
            </a:prstGeom>
            <a:solidFill>
              <a:srgbClr val="37437A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20626" y="1514225"/>
              <a:ext cx="9052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行为模型</a:t>
              </a:r>
              <a:endParaRPr lang="en-GB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43062" y="936769"/>
            <a:ext cx="9850596" cy="5300044"/>
            <a:chOff x="1148158" y="737137"/>
            <a:chExt cx="9850596" cy="5300044"/>
          </a:xfrm>
        </p:grpSpPr>
        <p:sp>
          <p:nvSpPr>
            <p:cNvPr id="24" name="Oval 22++"/>
            <p:cNvSpPr/>
            <p:nvPr/>
          </p:nvSpPr>
          <p:spPr>
            <a:xfrm>
              <a:off x="4242316" y="737137"/>
              <a:ext cx="3707366" cy="3707366"/>
            </a:xfrm>
            <a:prstGeom prst="ellipse">
              <a:avLst/>
            </a:prstGeom>
            <a:noFill/>
            <a:ln w="19050">
              <a:gradFill>
                <a:gsLst>
                  <a:gs pos="20000">
                    <a:schemeClr val="bg1">
                      <a:alpha val="0"/>
                    </a:schemeClr>
                  </a:gs>
                  <a:gs pos="96000">
                    <a:schemeClr val="accent1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8404184" y="1767547"/>
              <a:ext cx="2594570" cy="1232220"/>
              <a:chOff x="8938618" y="1467559"/>
              <a:chExt cx="2594570" cy="1232220"/>
            </a:xfrm>
          </p:grpSpPr>
          <p:sp>
            <p:nvSpPr>
              <p:cNvPr id="56" name="正文05"/>
              <p:cNvSpPr/>
              <p:nvPr/>
            </p:nvSpPr>
            <p:spPr>
              <a:xfrm>
                <a:off x="8938618" y="1964065"/>
                <a:ext cx="2594570" cy="735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/>
                  </a:rPr>
                  <a:t>需要指定节点编号、端口编号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57" name="小标题05"/>
              <p:cNvSpPr txBox="1"/>
              <p:nvPr/>
            </p:nvSpPr>
            <p:spPr>
              <a:xfrm>
                <a:off x="8938618" y="1467559"/>
                <a:ext cx="23696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000" b="1" baseline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开启服务</a:t>
                </a:r>
                <a:endParaRPr lang="zh-CN" altLang="en-US" sz="2000" b="1" baseline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8" name="直接连接符 57"/>
              <p:cNvCxnSpPr/>
              <p:nvPr/>
            </p:nvCxnSpPr>
            <p:spPr>
              <a:xfrm>
                <a:off x="9038717" y="1959279"/>
                <a:ext cx="258252" cy="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/>
          </p:nvGrpSpPr>
          <p:grpSpPr>
            <a:xfrm>
              <a:off x="8045094" y="3316042"/>
              <a:ext cx="2594570" cy="1232220"/>
              <a:chOff x="8938618" y="1467559"/>
              <a:chExt cx="2594570" cy="1232220"/>
            </a:xfrm>
          </p:grpSpPr>
          <p:sp>
            <p:nvSpPr>
              <p:cNvPr id="53" name="正文05"/>
              <p:cNvSpPr/>
              <p:nvPr/>
            </p:nvSpPr>
            <p:spPr>
              <a:xfrm>
                <a:off x="8938618" y="1964065"/>
                <a:ext cx="2594570" cy="735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/>
                  </a:rPr>
                  <a:t>需要指定节点编号、端口编号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54" name="小标题05"/>
              <p:cNvSpPr txBox="1"/>
              <p:nvPr/>
            </p:nvSpPr>
            <p:spPr>
              <a:xfrm>
                <a:off x="8938618" y="1467559"/>
                <a:ext cx="23696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停止服务</a:t>
                </a:r>
                <a:endParaRPr lang="zh-CN" altLang="en-US" sz="2000" baseline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5" name="直接连接符 54"/>
              <p:cNvCxnSpPr/>
              <p:nvPr/>
            </p:nvCxnSpPr>
            <p:spPr>
              <a:xfrm>
                <a:off x="9038717" y="1959279"/>
                <a:ext cx="258252" cy="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组合 28"/>
            <p:cNvGrpSpPr/>
            <p:nvPr/>
          </p:nvGrpSpPr>
          <p:grpSpPr>
            <a:xfrm>
              <a:off x="4798715" y="4804961"/>
              <a:ext cx="2594570" cy="1232220"/>
              <a:chOff x="4798715" y="4804961"/>
              <a:chExt cx="2594570" cy="1232220"/>
            </a:xfrm>
          </p:grpSpPr>
          <p:sp>
            <p:nvSpPr>
              <p:cNvPr id="50" name="正文05"/>
              <p:cNvSpPr/>
              <p:nvPr/>
            </p:nvSpPr>
            <p:spPr>
              <a:xfrm>
                <a:off x="4798715" y="5301467"/>
                <a:ext cx="2594570" cy="735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需要指定节点编号、端口编号、流入还是流出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小标题05"/>
              <p:cNvSpPr txBox="1"/>
              <p:nvPr/>
            </p:nvSpPr>
            <p:spPr>
              <a:xfrm>
                <a:off x="4911190" y="4804961"/>
                <a:ext cx="23696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000" b="1" baseline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允许流量</a:t>
                </a:r>
                <a:endParaRPr lang="zh-CN" altLang="en-US" sz="2000" b="1" baseline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2" name="直接连接符 51"/>
              <p:cNvCxnSpPr/>
              <p:nvPr/>
            </p:nvCxnSpPr>
            <p:spPr>
              <a:xfrm>
                <a:off x="5966874" y="5296681"/>
                <a:ext cx="258252" cy="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/>
            <p:cNvGrpSpPr/>
            <p:nvPr/>
          </p:nvGrpSpPr>
          <p:grpSpPr>
            <a:xfrm>
              <a:off x="1148158" y="1767547"/>
              <a:ext cx="2594570" cy="893089"/>
              <a:chOff x="1148158" y="1767547"/>
              <a:chExt cx="2594570" cy="893089"/>
            </a:xfrm>
          </p:grpSpPr>
          <p:sp>
            <p:nvSpPr>
              <p:cNvPr id="47" name="正文05"/>
              <p:cNvSpPr/>
              <p:nvPr/>
            </p:nvSpPr>
            <p:spPr>
              <a:xfrm>
                <a:off x="1148158" y="2264053"/>
                <a:ext cx="2594570" cy="3965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需要指定节点编号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小标题05"/>
              <p:cNvSpPr txBox="1"/>
              <p:nvPr/>
            </p:nvSpPr>
            <p:spPr>
              <a:xfrm>
                <a:off x="1373108" y="1767547"/>
                <a:ext cx="23696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重新映像节点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3378597" y="2264053"/>
                <a:ext cx="258252" cy="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/>
            <p:cNvGrpSpPr/>
            <p:nvPr/>
          </p:nvGrpSpPr>
          <p:grpSpPr>
            <a:xfrm>
              <a:off x="1581071" y="3316042"/>
              <a:ext cx="2594570" cy="1232220"/>
              <a:chOff x="1148158" y="1767547"/>
              <a:chExt cx="2594570" cy="1232220"/>
            </a:xfrm>
          </p:grpSpPr>
          <p:sp>
            <p:nvSpPr>
              <p:cNvPr id="44" name="正文05"/>
              <p:cNvSpPr/>
              <p:nvPr/>
            </p:nvSpPr>
            <p:spPr>
              <a:xfrm>
                <a:off x="1148158" y="2264053"/>
                <a:ext cx="2594570" cy="735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/>
                  </a:rPr>
                  <a:t>需要指定节点编号、端口编号、流入还是流出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45" name="小标题05"/>
              <p:cNvSpPr txBox="1"/>
              <p:nvPr/>
            </p:nvSpPr>
            <p:spPr>
              <a:xfrm>
                <a:off x="1373108" y="1767547"/>
                <a:ext cx="23696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阻断流量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3378597" y="2264053"/>
                <a:ext cx="258252" cy="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>
              <a:off x="3892749" y="1195074"/>
              <a:ext cx="4383957" cy="3579367"/>
              <a:chOff x="3892749" y="1195074"/>
              <a:chExt cx="4383957" cy="3579367"/>
            </a:xfrm>
          </p:grpSpPr>
          <p:sp>
            <p:nvSpPr>
              <p:cNvPr id="33" name="Oval 22++"/>
              <p:cNvSpPr/>
              <p:nvPr/>
            </p:nvSpPr>
            <p:spPr>
              <a:xfrm>
                <a:off x="5060948" y="1553376"/>
                <a:ext cx="2070102" cy="2070102"/>
              </a:xfrm>
              <a:prstGeom prst="donut">
                <a:avLst>
                  <a:gd name="adj" fmla="val 8905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4" name="Oval 22+++"/>
              <p:cNvSpPr/>
              <p:nvPr/>
            </p:nvSpPr>
            <p:spPr>
              <a:xfrm>
                <a:off x="4702646" y="1195074"/>
                <a:ext cx="2786706" cy="2786706"/>
              </a:xfrm>
              <a:prstGeom prst="ellipse">
                <a:avLst/>
              </a:prstGeom>
              <a:noFill/>
              <a:ln w="19050" cap="rnd">
                <a:gradFill>
                  <a:gsLst>
                    <a:gs pos="20000">
                      <a:schemeClr val="bg1">
                        <a:alpha val="0"/>
                      </a:schemeClr>
                    </a:gs>
                    <a:gs pos="97000">
                      <a:schemeClr val="accent1"/>
                    </a:gs>
                  </a:gsLst>
                  <a:lin ang="5400000" scaled="1"/>
                </a:gra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3892749" y="1974163"/>
                <a:ext cx="659876" cy="65987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228600" dist="152400" dir="5400000" sx="90000" sy="90000" algn="t" rotWithShape="0">
                  <a:schemeClr val="accent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000" b="1" dirty="0">
                    <a:solidFill>
                      <a:schemeClr val="accent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01</a:t>
                </a:r>
                <a:endParaRPr lang="zh-CN" altLang="en-US" sz="2000" b="1" dirty="0">
                  <a:solidFill>
                    <a:schemeClr val="accent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7616830" y="1974163"/>
                <a:ext cx="659876" cy="65987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228600" dist="152400" dir="5400000" sx="90000" sy="90000" algn="t" rotWithShape="0">
                  <a:schemeClr val="accent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000" b="1" dirty="0">
                    <a:solidFill>
                      <a:schemeClr val="accent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05</a:t>
                </a:r>
                <a:endParaRPr lang="zh-CN" altLang="en-US" sz="2000" b="1" dirty="0">
                  <a:solidFill>
                    <a:schemeClr val="accent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7224099" y="3359182"/>
                <a:ext cx="659876" cy="65987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228600" dist="152400" dir="5400000" sx="90000" sy="90000" algn="t" rotWithShape="0">
                  <a:schemeClr val="accent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000" b="1">
                    <a:solidFill>
                      <a:schemeClr val="accent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04</a:t>
                </a:r>
                <a:endParaRPr lang="zh-CN" altLang="en-US" sz="2000" b="1">
                  <a:solidFill>
                    <a:schemeClr val="accent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4308025" y="3359182"/>
                <a:ext cx="659876" cy="65987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228600" dist="152400" dir="5400000" sx="90000" sy="90000" algn="t" rotWithShape="0">
                  <a:schemeClr val="accent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000" b="1">
                    <a:solidFill>
                      <a:schemeClr val="accent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02</a:t>
                </a:r>
                <a:endParaRPr lang="zh-CN" altLang="en-US" sz="2000" b="1">
                  <a:solidFill>
                    <a:schemeClr val="accent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5766062" y="4114565"/>
                <a:ext cx="659876" cy="65987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228600" dist="152400" dir="5400000" sx="90000" sy="90000" algn="t" rotWithShape="0">
                  <a:schemeClr val="accent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000" b="1">
                    <a:solidFill>
                      <a:schemeClr val="accent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03</a:t>
                </a:r>
                <a:endParaRPr lang="zh-CN" altLang="en-US" sz="2000" b="1">
                  <a:solidFill>
                    <a:schemeClr val="accent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5387972" y="1880400"/>
                <a:ext cx="1416054" cy="1416054"/>
                <a:chOff x="5387972" y="1880400"/>
                <a:chExt cx="1416054" cy="1416054"/>
              </a:xfrm>
            </p:grpSpPr>
            <p:sp>
              <p:nvSpPr>
                <p:cNvPr id="42" name="椭圆 41"/>
                <p:cNvSpPr/>
                <p:nvPr/>
              </p:nvSpPr>
              <p:spPr>
                <a:xfrm>
                  <a:off x="5387972" y="1880400"/>
                  <a:ext cx="1416054" cy="1416054"/>
                </a:xfrm>
                <a:prstGeom prst="ellipse">
                  <a:avLst/>
                </a:prstGeom>
                <a:solidFill>
                  <a:srgbClr val="37437A"/>
                </a:soli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 defTabSz="913765"/>
                  <a:endParaRPr lang="en-US" sz="2000" b="1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5534467" y="2114722"/>
                  <a:ext cx="1123064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动作类型</a:t>
                  </a:r>
                  <a:endParaRPr 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1" name="Oval 22+++"/>
              <p:cNvSpPr/>
              <p:nvPr/>
            </p:nvSpPr>
            <p:spPr>
              <a:xfrm>
                <a:off x="4804420" y="1296848"/>
                <a:ext cx="2583158" cy="2583158"/>
              </a:xfrm>
              <a:prstGeom prst="ellipse">
                <a:avLst/>
              </a:prstGeom>
              <a:noFill/>
              <a:ln w="19050" cap="rnd">
                <a:gradFill>
                  <a:gsLst>
                    <a:gs pos="20000">
                      <a:schemeClr val="bg1">
                        <a:alpha val="0"/>
                      </a:schemeClr>
                    </a:gs>
                    <a:gs pos="97000">
                      <a:schemeClr val="accent1"/>
                    </a:gs>
                  </a:gsLst>
                  <a:lin ang="5400000" scaled="1"/>
                </a:gra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779145" y="481330"/>
            <a:ext cx="2951480" cy="461645"/>
          </a:xfrm>
          <a:prstGeom prst="rect">
            <a:avLst/>
          </a:prstGeom>
          <a:noFill/>
        </p:spPr>
        <p:txBody>
          <a:bodyPr wrap="none" lIns="0" rIns="180000" rtlCol="0">
            <a:spAutoFit/>
          </a:bodyPr>
          <a:lstStyle/>
          <a:p>
            <a:r>
              <a:rPr lang="zh-CN" altLang="en-US" sz="2400" b="1" dirty="0">
                <a:solidFill>
                  <a:srgbClr val="3743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论文工作介绍与展示</a:t>
            </a:r>
            <a:endParaRPr lang="zh-CN" altLang="en-US" sz="2400" b="1" dirty="0">
              <a:solidFill>
                <a:srgbClr val="3743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图片 7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491" y="1182217"/>
            <a:ext cx="6696479" cy="502235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71471" y="6341563"/>
            <a:ext cx="33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A0DB2DC-4C9A-4742-B13C-FB6460FD3503}" type="slidenum"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610600" y="6369880"/>
            <a:ext cx="2743200" cy="365125"/>
          </a:xfrm>
        </p:spPr>
        <p:txBody>
          <a:bodyPr/>
          <a:lstStyle/>
          <a:p>
            <a:fld id="{89AB8D6E-62EA-403A-9AC4-8D36D50294CC}" type="slidenum">
              <a:rPr lang="zh-CN" altLang="en-US" b="1" smtClean="0"/>
            </a:fld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13715" y="6488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1149800" y="2479688"/>
            <a:ext cx="2514466" cy="2424651"/>
          </a:xfrm>
          <a:prstGeom prst="ellipse">
            <a:avLst/>
          </a:prstGeom>
          <a:noFill/>
          <a:ln w="12700">
            <a:solidFill>
              <a:srgbClr val="37447A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1149800" y="2611394"/>
            <a:ext cx="2514466" cy="2161237"/>
            <a:chOff x="1230313" y="2588895"/>
            <a:chExt cx="2226945" cy="1985010"/>
          </a:xfrm>
        </p:grpSpPr>
        <p:sp>
          <p:nvSpPr>
            <p:cNvPr id="82" name="椭圆 81"/>
            <p:cNvSpPr/>
            <p:nvPr/>
          </p:nvSpPr>
          <p:spPr>
            <a:xfrm rot="10800000" flipH="1" flipV="1">
              <a:off x="1351280" y="2588895"/>
              <a:ext cx="1985010" cy="1985010"/>
            </a:xfrm>
            <a:prstGeom prst="ellipse">
              <a:avLst/>
            </a:prstGeom>
            <a:solidFill>
              <a:srgbClr val="37447A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230313" y="3268985"/>
              <a:ext cx="2226945" cy="77960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PPO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防御者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训练过程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740780" y="5149005"/>
            <a:ext cx="3576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经过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个回合，每回合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2048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个时间步的更新迭代后，防御者形成了一套奖励值较高的防御策略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568852" y="5875604"/>
            <a:ext cx="942068" cy="307777"/>
          </a:xfrm>
          <a:prstGeom prst="rect">
            <a:avLst/>
          </a:prstGeom>
          <a:solidFill>
            <a:srgbClr val="E3E6E9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回合数</a:t>
            </a:r>
            <a:endParaRPr lang="zh-CN" altLang="en-US" sz="1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4025773" y="3107236"/>
            <a:ext cx="583168" cy="1169551"/>
          </a:xfrm>
          <a:prstGeom prst="rect">
            <a:avLst/>
          </a:prstGeom>
          <a:solidFill>
            <a:srgbClr val="E3E6E9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每回合防御者奖励累加</a:t>
            </a:r>
            <a:endParaRPr lang="zh-CN" altLang="en-US" sz="1400" dirty="0"/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79145" y="481330"/>
            <a:ext cx="2951480" cy="461645"/>
          </a:xfrm>
          <a:prstGeom prst="rect">
            <a:avLst/>
          </a:prstGeom>
          <a:noFill/>
        </p:spPr>
        <p:txBody>
          <a:bodyPr wrap="none" lIns="0" rIns="180000" rtlCol="0">
            <a:spAutoFit/>
          </a:bodyPr>
          <a:p>
            <a:r>
              <a:rPr lang="zh-CN" altLang="en-US" sz="2400" b="1" dirty="0">
                <a:solidFill>
                  <a:srgbClr val="3743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论文工作介绍与展示</a:t>
            </a:r>
            <a:endParaRPr lang="zh-CN" altLang="en-US" sz="2400" b="1" dirty="0">
              <a:solidFill>
                <a:srgbClr val="3743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71471" y="6341563"/>
            <a:ext cx="33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A0DB2DC-4C9A-4742-B13C-FB6460FD3503}" type="slidenum"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610600" y="6369880"/>
            <a:ext cx="2743200" cy="365125"/>
          </a:xfrm>
        </p:spPr>
        <p:txBody>
          <a:bodyPr/>
          <a:lstStyle/>
          <a:p>
            <a:fld id="{89AB8D6E-62EA-403A-9AC4-8D36D50294CC}" type="slidenum">
              <a:rPr lang="zh-CN" altLang="en-US" b="1" smtClean="0"/>
            </a:fld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13715" y="6488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565187" y="1435578"/>
            <a:ext cx="10953713" cy="4434674"/>
            <a:chOff x="565187" y="1435578"/>
            <a:chExt cx="10953713" cy="4434674"/>
          </a:xfrm>
        </p:grpSpPr>
        <p:sp>
          <p:nvSpPr>
            <p:cNvPr id="26" name="矩形: 圆角 25"/>
            <p:cNvSpPr/>
            <p:nvPr/>
          </p:nvSpPr>
          <p:spPr>
            <a:xfrm flipH="1">
              <a:off x="5486400" y="1435578"/>
              <a:ext cx="6032500" cy="124701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25000"/>
                <a:lumOff val="75000"/>
                <a:alpha val="20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187719" y="1809275"/>
              <a:ext cx="4060851" cy="4996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R="0" lv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defRPr/>
              </a:pPr>
              <a:r>
                <a:rPr lang="fr-FR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DQL-Attcker 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vs 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无防御者</a:t>
              </a:r>
              <a:endParaRPr lang="en-GB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 flipH="1">
              <a:off x="5486400" y="3028927"/>
              <a:ext cx="6032500" cy="124701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25000"/>
                <a:lumOff val="75000"/>
                <a:alpha val="20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187719" y="3402624"/>
              <a:ext cx="4060851" cy="4996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R="0" lvl="0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defRPr/>
              </a:pPr>
              <a:r>
                <a:rPr lang="fr-FR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DQL-Attcker 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vs 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平台静态防御者</a:t>
              </a:r>
              <a:endParaRPr lang="fr-FR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 flipH="1">
              <a:off x="5486400" y="4623234"/>
              <a:ext cx="6032500" cy="124701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25000"/>
                <a:lumOff val="75000"/>
                <a:alpha val="20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187719" y="4996931"/>
              <a:ext cx="4060851" cy="4996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R="0" lvl="0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defRPr/>
              </a:pPr>
              <a:r>
                <a:rPr lang="fr-FR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DQL-Attcker 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vs </a:t>
              </a:r>
              <a:r>
                <a:rPr lang="fr-FR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防御者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65187" y="1576422"/>
              <a:ext cx="4354285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三组对比试验</a:t>
              </a:r>
              <a:endParaRPr lang="en-GB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660399" y="2465787"/>
              <a:ext cx="4623521" cy="19835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DQL-</a:t>
              </a:r>
              <a:r>
                <a:rPr lang="en-US" altLang="zh-CN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Attcker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：使用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Deep Q Learning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算法训练好的攻击者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PPO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防御者：使用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Proximal Policy Optimization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算法训练好的防御者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5929111" y="1511717"/>
              <a:ext cx="1056129" cy="1056129"/>
              <a:chOff x="775841" y="2923362"/>
              <a:chExt cx="500385" cy="500385"/>
            </a:xfrm>
          </p:grpSpPr>
          <p:sp>
            <p:nvSpPr>
              <p:cNvPr id="41" name="任意多边形: 形状 40"/>
              <p:cNvSpPr/>
              <p:nvPr/>
            </p:nvSpPr>
            <p:spPr bwMode="auto">
              <a:xfrm>
                <a:off x="775841" y="2923362"/>
                <a:ext cx="500385" cy="500385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869123" y="3020441"/>
                <a:ext cx="313821" cy="3062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chemeClr val="bg1"/>
                    </a:solidFill>
                    <a:latin typeface="等线 Light" panose="02010600030101010101" pitchFamily="2" charset="-122"/>
                    <a:ea typeface="等线 Light" panose="02010600030101010101" pitchFamily="2" charset="-122"/>
                  </a:rPr>
                  <a:t>01</a:t>
                </a:r>
                <a:endParaRPr lang="zh-CN" altLang="en-US" sz="3600" b="1" dirty="0">
                  <a:solidFill>
                    <a:schemeClr val="bg1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5929111" y="3102773"/>
              <a:ext cx="1056129" cy="1056129"/>
              <a:chOff x="775841" y="2923362"/>
              <a:chExt cx="500385" cy="500385"/>
            </a:xfrm>
          </p:grpSpPr>
          <p:sp>
            <p:nvSpPr>
              <p:cNvPr id="39" name="任意多边形: 形状 38"/>
              <p:cNvSpPr/>
              <p:nvPr/>
            </p:nvSpPr>
            <p:spPr bwMode="auto">
              <a:xfrm>
                <a:off x="775841" y="2923362"/>
                <a:ext cx="500385" cy="500385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rgbClr val="37437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869123" y="3020441"/>
                <a:ext cx="313821" cy="3062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chemeClr val="bg1"/>
                    </a:solidFill>
                    <a:latin typeface="等线 Light" panose="02010600030101010101" pitchFamily="2" charset="-122"/>
                    <a:ea typeface="等线 Light" panose="02010600030101010101" pitchFamily="2" charset="-122"/>
                  </a:rPr>
                  <a:t>02</a:t>
                </a:r>
                <a:endParaRPr lang="zh-CN" altLang="en-US" sz="3600" b="1" dirty="0">
                  <a:solidFill>
                    <a:schemeClr val="bg1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5929111" y="4693829"/>
              <a:ext cx="1056129" cy="1056129"/>
              <a:chOff x="775841" y="2923362"/>
              <a:chExt cx="500385" cy="500385"/>
            </a:xfrm>
          </p:grpSpPr>
          <p:sp>
            <p:nvSpPr>
              <p:cNvPr id="37" name="任意多边形: 形状 36"/>
              <p:cNvSpPr/>
              <p:nvPr/>
            </p:nvSpPr>
            <p:spPr bwMode="auto">
              <a:xfrm>
                <a:off x="775841" y="2923362"/>
                <a:ext cx="500385" cy="500385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869123" y="3020441"/>
                <a:ext cx="313821" cy="3062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chemeClr val="bg1"/>
                    </a:solidFill>
                    <a:latin typeface="等线 Light" panose="02010600030101010101" pitchFamily="2" charset="-122"/>
                    <a:ea typeface="等线 Light" panose="02010600030101010101" pitchFamily="2" charset="-122"/>
                  </a:rPr>
                  <a:t>03</a:t>
                </a:r>
                <a:endParaRPr lang="zh-CN" altLang="en-US" sz="3600" b="1" dirty="0">
                  <a:solidFill>
                    <a:schemeClr val="bg1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</p:grpSp>
      </p:grpSp>
      <p:sp>
        <p:nvSpPr>
          <p:cNvPr id="23" name="文本框 22"/>
          <p:cNvSpPr txBox="1"/>
          <p:nvPr/>
        </p:nvSpPr>
        <p:spPr>
          <a:xfrm>
            <a:off x="673100" y="4623234"/>
            <a:ext cx="445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过程：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个时间步的交互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79145" y="481330"/>
            <a:ext cx="2951480" cy="461645"/>
          </a:xfrm>
          <a:prstGeom prst="rect">
            <a:avLst/>
          </a:prstGeom>
          <a:noFill/>
        </p:spPr>
        <p:txBody>
          <a:bodyPr wrap="none" lIns="0" rIns="180000" rtlCol="0">
            <a:spAutoFit/>
          </a:bodyPr>
          <a:lstStyle/>
          <a:p>
            <a:r>
              <a:rPr lang="zh-CN" altLang="en-US" sz="2400" b="1" dirty="0">
                <a:solidFill>
                  <a:srgbClr val="3743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论文工作介绍与展示</a:t>
            </a:r>
            <a:endParaRPr lang="zh-CN" altLang="en-US" sz="2400" b="1" dirty="0">
              <a:solidFill>
                <a:srgbClr val="3743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71471" y="6341563"/>
            <a:ext cx="33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A0DB2DC-4C9A-4742-B13C-FB6460FD3503}" type="slidenum"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610600" y="6369880"/>
            <a:ext cx="2743200" cy="365125"/>
          </a:xfrm>
        </p:spPr>
        <p:txBody>
          <a:bodyPr/>
          <a:lstStyle/>
          <a:p>
            <a:fld id="{89AB8D6E-62EA-403A-9AC4-8D36D50294CC}" type="slidenum">
              <a:rPr lang="zh-CN" altLang="en-US" b="1" smtClean="0"/>
            </a:fld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13715" y="6488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"/>
          <a:stretch>
            <a:fillRect/>
          </a:stretch>
        </p:blipFill>
        <p:spPr>
          <a:xfrm>
            <a:off x="2545715" y="1855007"/>
            <a:ext cx="8062238" cy="3709471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779386" y="1184920"/>
            <a:ext cx="9443183" cy="4896391"/>
            <a:chOff x="1730036" y="1514225"/>
            <a:chExt cx="9443183" cy="4896391"/>
          </a:xfrm>
        </p:grpSpPr>
        <p:sp>
          <p:nvSpPr>
            <p:cNvPr id="29" name="矩形 28"/>
            <p:cNvSpPr/>
            <p:nvPr/>
          </p:nvSpPr>
          <p:spPr>
            <a:xfrm>
              <a:off x="1730036" y="1514226"/>
              <a:ext cx="278233" cy="4896390"/>
            </a:xfrm>
            <a:prstGeom prst="rect">
              <a:avLst/>
            </a:prstGeom>
            <a:solidFill>
              <a:srgbClr val="37437A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120626" y="1514225"/>
              <a:ext cx="9052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DQL-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Attcker</a:t>
              </a: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vs 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无防御者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212885" y="5696465"/>
            <a:ext cx="292188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攻击者奖励值变化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58239" y="5673080"/>
            <a:ext cx="292188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攻击者攻击情况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79145" y="481330"/>
            <a:ext cx="2951480" cy="461645"/>
          </a:xfrm>
          <a:prstGeom prst="rect">
            <a:avLst/>
          </a:prstGeom>
          <a:noFill/>
        </p:spPr>
        <p:txBody>
          <a:bodyPr wrap="none" lIns="0" rIns="180000" rtlCol="0">
            <a:spAutoFit/>
          </a:bodyPr>
          <a:lstStyle/>
          <a:p>
            <a:r>
              <a:rPr lang="zh-CN" altLang="en-US" sz="2400" b="1" dirty="0">
                <a:solidFill>
                  <a:srgbClr val="3743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论文工作介绍与展示</a:t>
            </a:r>
            <a:endParaRPr lang="zh-CN" altLang="en-US" sz="2400" b="1" dirty="0">
              <a:solidFill>
                <a:srgbClr val="3743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2"/>
          <a:stretch>
            <a:fillRect/>
          </a:stretch>
        </p:blipFill>
        <p:spPr>
          <a:xfrm>
            <a:off x="2545715" y="1941210"/>
            <a:ext cx="8026212" cy="370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71471" y="6341563"/>
            <a:ext cx="33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A0DB2DC-4C9A-4742-B13C-FB6460FD3503}" type="slidenum"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610600" y="6369880"/>
            <a:ext cx="2743200" cy="365125"/>
          </a:xfrm>
        </p:spPr>
        <p:txBody>
          <a:bodyPr/>
          <a:lstStyle/>
          <a:p>
            <a:fld id="{89AB8D6E-62EA-403A-9AC4-8D36D50294CC}" type="slidenum">
              <a:rPr lang="zh-CN" altLang="en-US" b="1" smtClean="0"/>
            </a:fld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13715" y="6488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779386" y="1063713"/>
            <a:ext cx="9330826" cy="5017598"/>
            <a:chOff x="1730036" y="1393018"/>
            <a:chExt cx="9330826" cy="5017598"/>
          </a:xfrm>
        </p:grpSpPr>
        <p:sp>
          <p:nvSpPr>
            <p:cNvPr id="15" name="矩形 14"/>
            <p:cNvSpPr/>
            <p:nvPr/>
          </p:nvSpPr>
          <p:spPr>
            <a:xfrm>
              <a:off x="1730036" y="1514226"/>
              <a:ext cx="278233" cy="4896390"/>
            </a:xfrm>
            <a:prstGeom prst="rect">
              <a:avLst/>
            </a:prstGeom>
            <a:solidFill>
              <a:srgbClr val="37437A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008269" y="1393018"/>
              <a:ext cx="9052593" cy="662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defRPr/>
              </a:pPr>
              <a:r>
                <a:rPr lang="fr-FR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DQL-Attcker 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vs 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平台静态防御者</a:t>
              </a:r>
              <a:endParaRPr lang="fr-FR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201868" y="5696465"/>
            <a:ext cx="292188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攻击者奖励值变化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58239" y="5673080"/>
            <a:ext cx="292188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攻击者攻击情况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79145" y="481330"/>
            <a:ext cx="2951480" cy="461645"/>
          </a:xfrm>
          <a:prstGeom prst="rect">
            <a:avLst/>
          </a:prstGeom>
          <a:noFill/>
        </p:spPr>
        <p:txBody>
          <a:bodyPr wrap="none" lIns="0" rIns="180000" rtlCol="0">
            <a:spAutoFit/>
          </a:bodyPr>
          <a:lstStyle/>
          <a:p>
            <a:r>
              <a:rPr lang="zh-CN" altLang="en-US" sz="2400" b="1" dirty="0">
                <a:solidFill>
                  <a:srgbClr val="3743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论文工作介绍与展示</a:t>
            </a:r>
            <a:endParaRPr lang="zh-CN" altLang="en-US" sz="2400" b="1" dirty="0">
              <a:solidFill>
                <a:srgbClr val="3743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6" b="-1"/>
          <a:stretch>
            <a:fillRect/>
          </a:stretch>
        </p:blipFill>
        <p:spPr>
          <a:xfrm>
            <a:off x="2688935" y="1898158"/>
            <a:ext cx="7908373" cy="370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71471" y="6341563"/>
            <a:ext cx="33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A0DB2DC-4C9A-4742-B13C-FB6460FD3503}" type="slidenum"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610600" y="6369880"/>
            <a:ext cx="2743200" cy="365125"/>
          </a:xfrm>
        </p:spPr>
        <p:txBody>
          <a:bodyPr/>
          <a:lstStyle/>
          <a:p>
            <a:fld id="{89AB8D6E-62EA-403A-9AC4-8D36D50294CC}" type="slidenum">
              <a:rPr lang="zh-CN" altLang="en-US" b="1" smtClean="0"/>
            </a:fld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13715" y="6488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779386" y="1184920"/>
            <a:ext cx="9443183" cy="4896391"/>
            <a:chOff x="1730036" y="1514225"/>
            <a:chExt cx="9443183" cy="4896391"/>
          </a:xfrm>
        </p:grpSpPr>
        <p:sp>
          <p:nvSpPr>
            <p:cNvPr id="15" name="矩形 14"/>
            <p:cNvSpPr/>
            <p:nvPr/>
          </p:nvSpPr>
          <p:spPr>
            <a:xfrm>
              <a:off x="1730036" y="1514226"/>
              <a:ext cx="278233" cy="4896390"/>
            </a:xfrm>
            <a:prstGeom prst="rect">
              <a:avLst/>
            </a:prstGeom>
            <a:solidFill>
              <a:srgbClr val="37437A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120626" y="1514225"/>
              <a:ext cx="9052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DQL-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Attcker</a:t>
              </a: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vs PPO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防御者</a:t>
              </a:r>
              <a:endPara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212885" y="5696465"/>
            <a:ext cx="292188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攻击者奖励值变化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58239" y="5673080"/>
            <a:ext cx="292188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攻击者攻击情况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79145" y="481330"/>
            <a:ext cx="2951480" cy="461645"/>
          </a:xfrm>
          <a:prstGeom prst="rect">
            <a:avLst/>
          </a:prstGeom>
          <a:noFill/>
        </p:spPr>
        <p:txBody>
          <a:bodyPr wrap="none" lIns="0" rIns="180000" rtlCol="0">
            <a:spAutoFit/>
          </a:bodyPr>
          <a:lstStyle/>
          <a:p>
            <a:r>
              <a:rPr lang="zh-CN" altLang="en-US" sz="2400" b="1" dirty="0">
                <a:solidFill>
                  <a:srgbClr val="3743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论文工作介绍与展示</a:t>
            </a:r>
            <a:endParaRPr lang="zh-CN" altLang="en-US" sz="2400" b="1" dirty="0">
              <a:solidFill>
                <a:srgbClr val="3743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71471" y="6341563"/>
            <a:ext cx="33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A0DB2DC-4C9A-4742-B13C-FB6460FD3503}" type="slidenum"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610600" y="6369880"/>
            <a:ext cx="2743200" cy="365125"/>
          </a:xfrm>
        </p:spPr>
        <p:txBody>
          <a:bodyPr/>
          <a:lstStyle/>
          <a:p>
            <a:fld id="{89AB8D6E-62EA-403A-9AC4-8D36D50294CC}" type="slidenum">
              <a:rPr lang="zh-CN" altLang="en-US" b="1" smtClean="0"/>
            </a:fld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13715" y="6488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11196" y="1729391"/>
            <a:ext cx="7694811" cy="3914952"/>
            <a:chOff x="477288" y="2178724"/>
            <a:chExt cx="7694811" cy="3914952"/>
          </a:xfrm>
        </p:grpSpPr>
        <p:graphicFrame>
          <p:nvGraphicFramePr>
            <p:cNvPr id="17" name="图表 16"/>
            <p:cNvGraphicFramePr/>
            <p:nvPr/>
          </p:nvGraphicFramePr>
          <p:xfrm>
            <a:off x="477288" y="2178724"/>
            <a:ext cx="5597179" cy="39149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grpSp>
          <p:nvGrpSpPr>
            <p:cNvPr id="18" name="组合 17"/>
            <p:cNvGrpSpPr/>
            <p:nvPr/>
          </p:nvGrpSpPr>
          <p:grpSpPr>
            <a:xfrm>
              <a:off x="5575300" y="2192394"/>
              <a:ext cx="2596799" cy="1731200"/>
              <a:chOff x="5575300" y="2192394"/>
              <a:chExt cx="2596799" cy="1731200"/>
            </a:xfrm>
          </p:grpSpPr>
          <p:graphicFrame>
            <p:nvGraphicFramePr>
              <p:cNvPr id="26" name="图表 25"/>
              <p:cNvGraphicFramePr/>
              <p:nvPr/>
            </p:nvGraphicFramePr>
            <p:xfrm>
              <a:off x="5575300" y="2192394"/>
              <a:ext cx="2596799" cy="1731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30" name="文本框 29"/>
              <p:cNvSpPr txBox="1"/>
              <p:nvPr/>
            </p:nvSpPr>
            <p:spPr>
              <a:xfrm>
                <a:off x="6603422" y="2827161"/>
                <a:ext cx="540554" cy="46166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400" b="1" dirty="0">
                    <a:solidFill>
                      <a:schemeClr val="accent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01</a:t>
                </a:r>
                <a:endParaRPr kumimoji="1" lang="zh-CN" altLang="en-US" sz="2400" b="1" dirty="0">
                  <a:solidFill>
                    <a:schemeClr val="accent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5575300" y="4136200"/>
              <a:ext cx="2596799" cy="1731200"/>
              <a:chOff x="5575300" y="4136200"/>
              <a:chExt cx="2596799" cy="1731200"/>
            </a:xfrm>
          </p:grpSpPr>
          <p:graphicFrame>
            <p:nvGraphicFramePr>
              <p:cNvPr id="21" name="图表 20"/>
              <p:cNvGraphicFramePr/>
              <p:nvPr/>
            </p:nvGraphicFramePr>
            <p:xfrm>
              <a:off x="5575300" y="4136200"/>
              <a:ext cx="2596799" cy="1731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25" name="文本框 24"/>
              <p:cNvSpPr txBox="1"/>
              <p:nvPr/>
            </p:nvSpPr>
            <p:spPr>
              <a:xfrm>
                <a:off x="6603422" y="4770967"/>
                <a:ext cx="540554" cy="46166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400" b="1" dirty="0">
                    <a:solidFill>
                      <a:schemeClr val="accent3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02</a:t>
                </a:r>
                <a:endParaRPr kumimoji="1" lang="zh-CN" altLang="en-US" sz="2400" b="1" dirty="0">
                  <a:solidFill>
                    <a:schemeClr val="accent3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14" name="矩形 13"/>
          <p:cNvSpPr/>
          <p:nvPr/>
        </p:nvSpPr>
        <p:spPr>
          <a:xfrm flipH="1">
            <a:off x="7678422" y="2196379"/>
            <a:ext cx="3627965" cy="1277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r>
              <a:rPr kumimoji="1" lang="zh-CN" altLang="en-US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三组实验对比分析了同一攻击者面对不同防御者的表现，凸显了</a:t>
            </a:r>
            <a:r>
              <a:rPr kumimoji="1" lang="en-US" altLang="zh-CN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PPO</a:t>
            </a:r>
            <a:r>
              <a:rPr kumimoji="1" lang="zh-CN" altLang="en-US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防御者的有效性。</a:t>
            </a:r>
            <a:endParaRPr kumimoji="1" lang="en-US" altLang="zh-CN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 flipH="1">
            <a:off x="7710611" y="4084168"/>
            <a:ext cx="3627965" cy="1277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r>
              <a:rPr kumimoji="1" lang="zh-CN" altLang="en-US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展望：可以根据研究需求更换攻击场景，或拓展防御者的行为模型和奖励模型，针对性地训练防御智能体。</a:t>
            </a:r>
            <a:endParaRPr kumimoji="1" lang="en-US" altLang="zh-CN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779145" y="481330"/>
            <a:ext cx="2951480" cy="461645"/>
          </a:xfrm>
          <a:prstGeom prst="rect">
            <a:avLst/>
          </a:prstGeom>
          <a:noFill/>
        </p:spPr>
        <p:txBody>
          <a:bodyPr wrap="none" lIns="0" rIns="180000" rtlCol="0">
            <a:spAutoFit/>
          </a:bodyPr>
          <a:lstStyle/>
          <a:p>
            <a:r>
              <a:rPr lang="zh-CN" altLang="en-US" sz="2400" b="1" dirty="0">
                <a:solidFill>
                  <a:srgbClr val="3743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论文工作介绍与展示</a:t>
            </a:r>
            <a:endParaRPr lang="zh-CN" altLang="en-US" sz="2400" b="1" dirty="0">
              <a:solidFill>
                <a:srgbClr val="3743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PP_MARK_KEY" val="658a0137-9fd9-4988-b80c-5bb0cdeca3f5"/>
  <p:tag name="COMMONDATA" val="eyJoZGlkIjoiN2ZiMWU4NjE2ZThjZWFmNTIyNjY1N2Y2MGM4NGU0Yz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</Words>
  <Application>WPS 演示</Application>
  <PresentationFormat>宽屏</PresentationFormat>
  <Paragraphs>131</Paragraphs>
  <Slides>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思源黑体 CN Bold</vt:lpstr>
      <vt:lpstr>黑体</vt:lpstr>
      <vt:lpstr>等线</vt:lpstr>
      <vt:lpstr>Times New Roman</vt:lpstr>
      <vt:lpstr>等线 Light</vt:lpstr>
      <vt:lpstr>Cambria Math</vt:lpstr>
      <vt:lpstr>Arial Unicode MS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建宇</dc:creator>
  <cp:lastModifiedBy>windy</cp:lastModifiedBy>
  <cp:revision>794</cp:revision>
  <dcterms:created xsi:type="dcterms:W3CDTF">2021-12-01T07:34:00Z</dcterms:created>
  <dcterms:modified xsi:type="dcterms:W3CDTF">2026-02-27T14:23:13Z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DD397C06BF924D20A031A9CFAE1DAEE3_13</vt:lpwstr>
  </property>
  <property fmtid="{D5CDD505-2E9C-101B-9397-08002B2CF9AE}" pid="3" name="KSOProductBuildVer">
    <vt:lpwstr>2052-12.1.0.16120</vt:lpwstr>
  </property>
</Properties>
</file>